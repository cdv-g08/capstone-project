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69" r:id="rId4"/>
    <p:sldId id="268" r:id="rId5"/>
    <p:sldId id="273" r:id="rId6"/>
    <p:sldId id="272" r:id="rId7"/>
    <p:sldId id="271" r:id="rId8"/>
    <p:sldId id="270"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553347" y="1069102"/>
            <a:ext cx="10743918"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3200" dirty="0">
                <a:solidFill>
                  <a:schemeClr val="tx1"/>
                </a:solidFill>
                <a:latin typeface="Cambria" panose="02040503050406030204" pitchFamily="18" charset="0"/>
                <a:ea typeface="Cambria" panose="02040503050406030204" pitchFamily="18" charset="0"/>
              </a:rPr>
              <a:t>Leveraging technology to Improve customer experience</a:t>
            </a:r>
            <a:endParaRPr sz="32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07-CDV-01</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3998816920"/>
              </p:ext>
            </p:extLst>
          </p:nvPr>
        </p:nvGraphicFramePr>
        <p:xfrm>
          <a:off x="553347" y="2721840"/>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20211CDV0032              </a:t>
                      </a:r>
                    </a:p>
                    <a:p>
                      <a:pPr marL="0" marR="0" lvl="0" indent="0" algn="ctr" rtl="0">
                        <a:spcBef>
                          <a:spcPts val="0"/>
                        </a:spcBef>
                        <a:spcAft>
                          <a:spcPts val="0"/>
                        </a:spcAft>
                        <a:buFont typeface="+mj-lt"/>
                        <a:buNone/>
                      </a:pPr>
                      <a:r>
                        <a:rPr lang="en-US" sz="1800" u="none" strike="noStrike" cap="none" dirty="0"/>
                        <a:t>20211CDV0031</a:t>
                      </a:r>
                    </a:p>
                    <a:p>
                      <a:pPr marL="0" marR="0" lvl="0" indent="0" algn="ctr" rtl="0">
                        <a:spcBef>
                          <a:spcPts val="0"/>
                        </a:spcBef>
                        <a:spcAft>
                          <a:spcPts val="0"/>
                        </a:spcAft>
                        <a:buFont typeface="+mj-lt"/>
                        <a:buNone/>
                      </a:pPr>
                      <a:r>
                        <a:rPr lang="en-US" sz="1800" u="none" strike="noStrike" cap="none" dirty="0"/>
                        <a:t>20211CDV0015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Rishi Anand</a:t>
                      </a:r>
                    </a:p>
                    <a:p>
                      <a:pPr marL="0" marR="0" lvl="0" indent="0" algn="ctr" rtl="0">
                        <a:spcBef>
                          <a:spcPts val="0"/>
                        </a:spcBef>
                        <a:spcAft>
                          <a:spcPts val="0"/>
                        </a:spcAft>
                        <a:buNone/>
                      </a:pPr>
                      <a:r>
                        <a:rPr lang="en-US" sz="1800" u="none" strike="noStrike" cap="none" dirty="0"/>
                        <a:t>Rashmi Joshi</a:t>
                      </a:r>
                    </a:p>
                    <a:p>
                      <a:pPr marL="0" marR="0" lvl="0" indent="0" algn="ctr" rtl="0">
                        <a:spcBef>
                          <a:spcPts val="0"/>
                        </a:spcBef>
                        <a:spcAft>
                          <a:spcPts val="0"/>
                        </a:spcAft>
                        <a:buNone/>
                      </a:pPr>
                      <a:r>
                        <a:rPr lang="en-US" sz="1800" u="none" strike="noStrike" cap="none" dirty="0"/>
                        <a:t>Eshan Vijay </a:t>
                      </a:r>
                      <a:r>
                        <a:rPr lang="en-US" sz="1800" u="none" strike="noStrike" cap="none" dirty="0" err="1"/>
                        <a:t>Shettennavar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IN"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Meena Kumari,</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B-TECH</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Pravinthraja</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solidFill>
                  <a:schemeClr val="tx1"/>
                </a:solidFill>
                <a:latin typeface="Cambria" panose="02040503050406030204" pitchFamily="18" charset="0"/>
                <a:ea typeface="Cambria" panose="02040503050406030204" pitchFamily="18" charset="0"/>
                <a:cs typeface="Verdana"/>
                <a:sym typeface="Verdana"/>
              </a:rPr>
              <a:t>Ms. Suma N G</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PSCS174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US" dirty="0">
                <a:latin typeface="Cambria" panose="02040503050406030204" pitchFamily="18" charset="0"/>
                <a:ea typeface="Cambria" panose="02040503050406030204" pitchFamily="18" charset="0"/>
              </a:rPr>
              <a:t>Future Generali</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 </a:t>
            </a:r>
            <a:r>
              <a:rPr lang="en-US" dirty="0">
                <a:latin typeface="Cambria" panose="02040503050406030204" pitchFamily="18" charset="0"/>
                <a:ea typeface="Cambria" panose="02040503050406030204" pitchFamily="18" charset="0"/>
              </a:rPr>
              <a:t>Insurance is about building trust relationships with customers and the demand for more transparency is now more than ever. A lot of studies have shown that customers care a lot about transparency in their dealings with the industry –clear language, knowing what value they will receive and an open and transparent relationship however, the issue is that they seldom read their policy documents carefully and as a result are not completely aware of what the relationship entails. Can we build a solution to leverage technology (video, voice, QR) to inform them of most important features in a more accessible manner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Difficulty Level: </a:t>
            </a:r>
            <a:r>
              <a:rPr lang="en-US" dirty="0">
                <a:latin typeface="Cambria" panose="02040503050406030204" pitchFamily="18" charset="0"/>
                <a:ea typeface="Cambria" panose="02040503050406030204" pitchFamily="18" charset="0"/>
              </a:rPr>
              <a:t>Complex</a:t>
            </a: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https://github.com/CDV-G08/Capstone-Project.git</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495300" indent="-342900" algn="just">
              <a:spcBef>
                <a:spcPts val="0"/>
              </a:spcBef>
              <a:buSzPct val="100000"/>
            </a:pPr>
            <a:r>
              <a:rPr lang="en-US" dirty="0">
                <a:latin typeface="Cambria" panose="02040503050406030204" pitchFamily="18" charset="0"/>
                <a:ea typeface="Cambria" panose="02040503050406030204" pitchFamily="18" charset="0"/>
              </a:rPr>
              <a:t>Full Stack Web Development </a:t>
            </a:r>
          </a:p>
          <a:p>
            <a:pPr marL="495300" indent="-342900" algn="just">
              <a:spcBef>
                <a:spcPts val="0"/>
              </a:spcBef>
              <a:buSzPct val="100000"/>
            </a:pPr>
            <a:endParaRPr lang="en-US" dirty="0">
              <a:latin typeface="Cambria" panose="02040503050406030204" pitchFamily="18" charset="0"/>
              <a:ea typeface="Cambria" panose="02040503050406030204" pitchFamily="18" charset="0"/>
            </a:endParaRPr>
          </a:p>
          <a:p>
            <a:pPr marL="495300" indent="-342900" algn="just">
              <a:spcBef>
                <a:spcPts val="0"/>
              </a:spcBef>
              <a:buSzPct val="100000"/>
            </a:pPr>
            <a:r>
              <a:rPr lang="en-US" dirty="0">
                <a:latin typeface="Cambria" panose="02040503050406030204" pitchFamily="18" charset="0"/>
                <a:ea typeface="Cambria" panose="02040503050406030204" pitchFamily="18" charset="0"/>
              </a:rPr>
              <a:t>Cloud</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NodeJS</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ReactJS/</a:t>
            </a:r>
            <a:r>
              <a:rPr lang="en-US" dirty="0" err="1">
                <a:latin typeface="Cambria" panose="02040503050406030204" pitchFamily="18" charset="0"/>
                <a:ea typeface="Cambria" panose="02040503050406030204" pitchFamily="18" charset="0"/>
              </a:rPr>
              <a:t>NextJS</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ExpressJS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dirty="0" err="1">
                <a:latin typeface="Cambria" panose="02040503050406030204" pitchFamily="18" charset="0"/>
                <a:ea typeface="Cambria" panose="02040503050406030204" pitchFamily="18" charset="0"/>
              </a:rPr>
              <a:t>Vercel</a:t>
            </a:r>
            <a:r>
              <a:rPr lang="en-US" dirty="0">
                <a:latin typeface="Cambria" panose="02040503050406030204" pitchFamily="18" charset="0"/>
                <a:ea typeface="Cambria" panose="02040503050406030204" pitchFamily="18" charset="0"/>
              </a:rPr>
              <a:t>/Netlify</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98091" y="1143000"/>
            <a:ext cx="10933470" cy="5188974"/>
          </a:xfrm>
          <a:prstGeom prst="rect">
            <a:avLst/>
          </a:prstGeom>
          <a:noFill/>
          <a:ln>
            <a:noFill/>
          </a:ln>
        </p:spPr>
        <p:txBody>
          <a:bodyPr spcFirstLastPara="1" wrap="square" lIns="91425" tIns="45700" rIns="91425" bIns="45700" anchor="t" anchorCtr="0">
            <a:normAutofit fontScale="25000" lnSpcReduction="20000"/>
          </a:bodyPr>
          <a:lstStyle/>
          <a:p>
            <a:pPr marL="76200" indent="0">
              <a:buNone/>
            </a:pPr>
            <a:r>
              <a:rPr lang="en-US" sz="6400" dirty="0">
                <a:latin typeface="Cambria" panose="02040503050406030204" pitchFamily="18" charset="0"/>
                <a:ea typeface="Cambria" panose="02040503050406030204" pitchFamily="18" charset="0"/>
              </a:rPr>
              <a:t>Here’s a brief analysis of the problem statement:</a:t>
            </a:r>
          </a:p>
          <a:p>
            <a:r>
              <a:rPr lang="en-US" sz="6400" b="1" dirty="0">
                <a:latin typeface="Cambria" panose="02040503050406030204" pitchFamily="18" charset="0"/>
                <a:ea typeface="Cambria" panose="02040503050406030204" pitchFamily="18" charset="0"/>
              </a:rPr>
              <a:t>Customer Demand for Transparency</a:t>
            </a:r>
            <a:r>
              <a:rPr lang="en-US" sz="6400" dirty="0">
                <a:latin typeface="Cambria" panose="02040503050406030204" pitchFamily="18" charset="0"/>
                <a:ea typeface="Cambria" panose="02040503050406030204" pitchFamily="18" charset="0"/>
              </a:rPr>
              <a:t>: Customers increasingly expect clear communication and transparency from insurers. They want to understand the value of their policies and the specifics of their coverage in a straightforward manner.</a:t>
            </a:r>
          </a:p>
          <a:p>
            <a:r>
              <a:rPr lang="en-US" sz="6800" b="1" dirty="0">
                <a:latin typeface="Cambria" panose="02040503050406030204" pitchFamily="18" charset="0"/>
                <a:ea typeface="Cambria" panose="02040503050406030204" pitchFamily="18" charset="0"/>
              </a:rPr>
              <a:t>Engagement</a:t>
            </a:r>
            <a:r>
              <a:rPr lang="en-US" sz="6400" b="1" dirty="0">
                <a:latin typeface="Cambria" panose="02040503050406030204" pitchFamily="18" charset="0"/>
                <a:ea typeface="Cambria" panose="02040503050406030204" pitchFamily="18" charset="0"/>
              </a:rPr>
              <a:t> with Policy Documents</a:t>
            </a:r>
            <a:r>
              <a:rPr lang="en-US" sz="6400" dirty="0">
                <a:latin typeface="Cambria" panose="02040503050406030204" pitchFamily="18" charset="0"/>
                <a:ea typeface="Cambria" panose="02040503050406030204" pitchFamily="18" charset="0"/>
              </a:rPr>
              <a:t>: Despite the availability of detailed policy documents, many customers do not read them thoroughly. This is often due to the complexity of the language and the length of the documents, which can be overwhelming or confusing.</a:t>
            </a:r>
          </a:p>
          <a:p>
            <a:r>
              <a:rPr lang="en-US" sz="6400" b="1" dirty="0">
                <a:latin typeface="Cambria" panose="02040503050406030204" pitchFamily="18" charset="0"/>
                <a:ea typeface="Cambria" panose="02040503050406030204" pitchFamily="18" charset="0"/>
              </a:rPr>
              <a:t>Technology as a Solution</a:t>
            </a:r>
            <a:r>
              <a:rPr lang="en-US" sz="6400" dirty="0">
                <a:latin typeface="Cambria" panose="02040503050406030204" pitchFamily="18" charset="0"/>
                <a:ea typeface="Cambria" panose="02040503050406030204" pitchFamily="18" charset="0"/>
              </a:rPr>
              <a:t>: Leveraging technology can address this issue by presenting information in more engaging and accessible formats. Here’s how various technologies could be utilized:</a:t>
            </a:r>
          </a:p>
          <a:p>
            <a:pPr marL="1314450" lvl="1" indent="-857250"/>
            <a:r>
              <a:rPr lang="en-US" sz="6400" b="1" dirty="0">
                <a:latin typeface="Cambria" panose="02040503050406030204" pitchFamily="18" charset="0"/>
                <a:ea typeface="Cambria" panose="02040503050406030204" pitchFamily="18" charset="0"/>
              </a:rPr>
              <a:t>Video</a:t>
            </a:r>
            <a:r>
              <a:rPr lang="en-US" sz="6400" dirty="0">
                <a:latin typeface="Cambria" panose="02040503050406030204" pitchFamily="18" charset="0"/>
                <a:ea typeface="Cambria" panose="02040503050406030204" pitchFamily="18" charset="0"/>
              </a:rPr>
              <a:t>: Short, explainer videos could break down complex terms and coverage details in a visual and easy-to-understand manner.</a:t>
            </a:r>
          </a:p>
          <a:p>
            <a:pPr marL="1314450" lvl="1" indent="-857250"/>
            <a:r>
              <a:rPr lang="en-US" sz="6400" b="1" dirty="0">
                <a:latin typeface="Cambria" panose="02040503050406030204" pitchFamily="18" charset="0"/>
                <a:ea typeface="Cambria" panose="02040503050406030204" pitchFamily="18" charset="0"/>
              </a:rPr>
              <a:t>Voice</a:t>
            </a:r>
            <a:r>
              <a:rPr lang="en-US" sz="6400" dirty="0">
                <a:latin typeface="Cambria" panose="02040503050406030204" pitchFamily="18" charset="0"/>
                <a:ea typeface="Cambria" panose="02040503050406030204" pitchFamily="18" charset="0"/>
              </a:rPr>
              <a:t>: Interactive voice assistants could provide on-demand explanations of policy details when customers have questions.</a:t>
            </a:r>
          </a:p>
          <a:p>
            <a:pPr marL="1314450" lvl="1" indent="-857250"/>
            <a:r>
              <a:rPr lang="en-US" sz="6400" b="1" dirty="0">
                <a:latin typeface="Cambria" panose="02040503050406030204" pitchFamily="18" charset="0"/>
                <a:ea typeface="Cambria" panose="02040503050406030204" pitchFamily="18" charset="0"/>
              </a:rPr>
              <a:t>QR Codes</a:t>
            </a:r>
            <a:r>
              <a:rPr lang="en-US" sz="6400" dirty="0">
                <a:latin typeface="Cambria" panose="02040503050406030204" pitchFamily="18" charset="0"/>
                <a:ea typeface="Cambria" panose="02040503050406030204" pitchFamily="18" charset="0"/>
              </a:rPr>
              <a:t>: QR codes on policy documents could link to dynamic resources like videos or interactive FAQs, making it easier for customers to access information.</a:t>
            </a:r>
          </a:p>
          <a:p>
            <a:pPr marL="76200" indent="0">
              <a:buNone/>
            </a:pPr>
            <a:r>
              <a:rPr lang="en-US" sz="6400" b="1" dirty="0">
                <a:latin typeface="Cambria" panose="02040503050406030204" pitchFamily="18" charset="0"/>
                <a:ea typeface="Cambria" panose="02040503050406030204" pitchFamily="18" charset="0"/>
              </a:rPr>
              <a:t>Benefits of Technology Integration</a:t>
            </a:r>
            <a:r>
              <a:rPr lang="en-US" sz="6400" dirty="0">
                <a:latin typeface="Cambria" panose="02040503050406030204" pitchFamily="18" charset="0"/>
                <a:ea typeface="Cambria" panose="02040503050406030204" pitchFamily="18" charset="0"/>
              </a:rPr>
              <a:t>:</a:t>
            </a:r>
          </a:p>
          <a:p>
            <a:pPr marL="457200" lvl="1" indent="0">
              <a:buNone/>
            </a:pPr>
            <a:r>
              <a:rPr lang="en-US" sz="6400" b="1" dirty="0">
                <a:latin typeface="Cambria" panose="02040503050406030204" pitchFamily="18" charset="0"/>
                <a:ea typeface="Cambria" panose="02040503050406030204" pitchFamily="18" charset="0"/>
              </a:rPr>
              <a:t>1. Enhanced Understanding</a:t>
            </a:r>
            <a:r>
              <a:rPr lang="en-US" sz="6400" dirty="0">
                <a:latin typeface="Cambria" panose="02040503050406030204" pitchFamily="18" charset="0"/>
                <a:ea typeface="Cambria" panose="02040503050406030204" pitchFamily="18" charset="0"/>
              </a:rPr>
              <a:t>: Simplifies complex information and makes it more digestible.</a:t>
            </a:r>
          </a:p>
          <a:p>
            <a:pPr marL="457200" lvl="1" indent="0">
              <a:buNone/>
            </a:pPr>
            <a:r>
              <a:rPr lang="en-US" sz="6400" b="1" dirty="0">
                <a:latin typeface="Cambria" panose="02040503050406030204" pitchFamily="18" charset="0"/>
                <a:ea typeface="Cambria" panose="02040503050406030204" pitchFamily="18" charset="0"/>
              </a:rPr>
              <a:t>2. Increased Engagement</a:t>
            </a:r>
            <a:r>
              <a:rPr lang="en-US" sz="6400" dirty="0">
                <a:latin typeface="Cambria" panose="02040503050406030204" pitchFamily="18" charset="0"/>
                <a:ea typeface="Cambria" panose="02040503050406030204" pitchFamily="18" charset="0"/>
              </a:rPr>
              <a:t>: Engages customers in a format they might find more appealing and easier to interact with.</a:t>
            </a:r>
          </a:p>
          <a:p>
            <a:pPr marL="457200" lvl="1" indent="0">
              <a:buNone/>
            </a:pPr>
            <a:r>
              <a:rPr lang="en-US" sz="6400" b="1" dirty="0">
                <a:latin typeface="Cambria" panose="02040503050406030204" pitchFamily="18" charset="0"/>
                <a:ea typeface="Cambria" panose="02040503050406030204" pitchFamily="18" charset="0"/>
              </a:rPr>
              <a:t>3. Improved Transparency</a:t>
            </a:r>
            <a:r>
              <a:rPr lang="en-US" sz="6400" dirty="0">
                <a:latin typeface="Cambria" panose="02040503050406030204" pitchFamily="18" charset="0"/>
                <a:ea typeface="Cambria" panose="02040503050406030204" pitchFamily="18" charset="0"/>
              </a:rPr>
              <a:t>: Provides clear, concise, and easily accessible information, building trust and ensuring customers are well-informed.</a:t>
            </a:r>
          </a:p>
          <a:p>
            <a:pPr marL="76200" indent="0">
              <a:buNone/>
            </a:pPr>
            <a:r>
              <a:rPr lang="en-US" sz="6400" dirty="0">
                <a:latin typeface="Cambria" panose="02040503050406030204" pitchFamily="18" charset="0"/>
                <a:ea typeface="Cambria" panose="02040503050406030204" pitchFamily="18" charset="0"/>
              </a:rPr>
              <a:t>Overall, integrating these technologies could bridge the gap between policy complexity and customer understanding, enhancing transparency and trust in the insurance relationship.</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Add APA Citation for all references.</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Use the below link for various APA styles :</a:t>
            </a:r>
          </a:p>
          <a:p>
            <a:pPr marL="495300" indent="-342900">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mbria" panose="02040503050406030204" pitchFamily="18" charset="0"/>
                <a:ea typeface="Cambria" panose="02040503050406030204" pitchFamily="18" charset="0"/>
              </a:rPr>
              <a:t>https://www.indeed.com/career-advice/career-development/how-to-cite-a-research-paper</a:t>
            </a:r>
          </a:p>
          <a:p>
            <a:pPr marL="152400" indent="0">
              <a:spcBef>
                <a:spcPts val="0"/>
              </a:spcBef>
              <a:buNone/>
            </a:pPr>
            <a:r>
              <a:rPr lang="en-US"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619</Words>
  <Application>Microsoft Office PowerPoint</Application>
  <PresentationFormat>Widescreen</PresentationFormat>
  <Paragraphs>78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vt:lpstr>
      <vt:lpstr>Verdana</vt:lpstr>
      <vt:lpstr>Wingdings</vt:lpstr>
      <vt:lpstr>Bioinformatics</vt:lpstr>
      <vt:lpstr>Leveraging technology to Improve customer experience</vt:lpstr>
      <vt:lpstr>Content</vt:lpstr>
      <vt:lpstr>Problem Statement Number: PSCS174</vt:lpstr>
      <vt:lpstr>Github Link</vt:lpstr>
      <vt:lpstr>Analysis of Problem Statement</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Rishi Anand</cp:lastModifiedBy>
  <cp:revision>38</cp:revision>
  <dcterms:modified xsi:type="dcterms:W3CDTF">2024-09-14T17:30:49Z</dcterms:modified>
</cp:coreProperties>
</file>